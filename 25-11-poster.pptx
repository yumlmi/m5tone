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>
      <p:cViewPr>
        <p:scale>
          <a:sx n="26" d="100"/>
          <a:sy n="26" d="100"/>
        </p:scale>
        <p:origin x="2384" y="-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910F8-A16E-B343-888E-C31EB6A96187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DF75C-53DE-334A-AB2A-A1BA54BE68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6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DF75C-53DE-334A-AB2A-A1BA54BE68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45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90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39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605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60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784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321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19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85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125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76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37F98-22E3-9F46-8BD9-AED714A32DCD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0F433-2BC1-1845-80EA-9BE9100F52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7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D8A802B0-2890-8E8F-EA8D-0EF969BDCB50}"/>
              </a:ext>
            </a:extLst>
          </p:cNvPr>
          <p:cNvSpPr/>
          <p:nvPr/>
        </p:nvSpPr>
        <p:spPr>
          <a:xfrm>
            <a:off x="14309637" y="34059903"/>
            <a:ext cx="15583706" cy="76580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EEA23ED-2AAC-6505-35D4-253BA0EFE806}"/>
              </a:ext>
            </a:extLst>
          </p:cNvPr>
          <p:cNvSpPr/>
          <p:nvPr/>
        </p:nvSpPr>
        <p:spPr>
          <a:xfrm>
            <a:off x="367424" y="34104738"/>
            <a:ext cx="13587786" cy="76131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013618-AA2F-29AD-12A3-C10A5CCDE747}"/>
              </a:ext>
            </a:extLst>
          </p:cNvPr>
          <p:cNvSpPr/>
          <p:nvPr/>
        </p:nvSpPr>
        <p:spPr>
          <a:xfrm>
            <a:off x="367197" y="25898018"/>
            <a:ext cx="29555157" cy="7545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7BAEC4A-5687-CECD-0E44-C54F2728F4D5}"/>
              </a:ext>
            </a:extLst>
          </p:cNvPr>
          <p:cNvSpPr/>
          <p:nvPr/>
        </p:nvSpPr>
        <p:spPr>
          <a:xfrm>
            <a:off x="344574" y="17781010"/>
            <a:ext cx="29555157" cy="7545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9D1DCB-E7A9-5040-1A5E-16695CB90790}"/>
              </a:ext>
            </a:extLst>
          </p:cNvPr>
          <p:cNvSpPr/>
          <p:nvPr/>
        </p:nvSpPr>
        <p:spPr>
          <a:xfrm>
            <a:off x="366774" y="9708848"/>
            <a:ext cx="29555157" cy="7545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ECFF97-E02A-A0DE-DE25-920D99DE60B3}"/>
              </a:ext>
            </a:extLst>
          </p:cNvPr>
          <p:cNvSpPr/>
          <p:nvPr/>
        </p:nvSpPr>
        <p:spPr>
          <a:xfrm>
            <a:off x="15810921" y="3318388"/>
            <a:ext cx="14126013" cy="59979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009346-E8CB-7B62-A095-CF93435073C9}"/>
              </a:ext>
            </a:extLst>
          </p:cNvPr>
          <p:cNvSpPr/>
          <p:nvPr/>
        </p:nvSpPr>
        <p:spPr>
          <a:xfrm>
            <a:off x="366470" y="3318301"/>
            <a:ext cx="15090333" cy="59979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5161BC2-DF15-FE2E-3A4A-72109327E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175" y="540850"/>
            <a:ext cx="19909229" cy="2299855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1563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63125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44688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926251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907813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89376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70939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852501" algn="l" defTabSz="981563" rtl="0" eaLnBrk="1" latinLnBrk="0" hangingPunct="1">
              <a:defRPr sz="3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7730">
                <a:ea typeface="游ゴシック Light"/>
              </a:rPr>
              <a:t>M5Tone</a:t>
            </a:r>
          </a:p>
        </p:txBody>
      </p:sp>
      <p:pic>
        <p:nvPicPr>
          <p:cNvPr id="15" name="コンテンツ プレースホルダー 9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48EE326F-F5C1-2984-C256-292FC43A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144944" y="26085465"/>
            <a:ext cx="12363568" cy="718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字幕 23">
            <a:extLst>
              <a:ext uri="{FF2B5EF4-FFF2-40B4-BE49-F238E27FC236}">
                <a16:creationId xmlns:a16="http://schemas.microsoft.com/office/drawing/2014/main" id="{7E021033-8A56-98BC-7A58-642E7BA06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34002" y="21380676"/>
            <a:ext cx="22706410" cy="10334331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AE31E-7E6C-ACE4-960F-A0ADD7736A46}"/>
              </a:ext>
            </a:extLst>
          </p:cNvPr>
          <p:cNvSpPr txBox="1"/>
          <p:nvPr/>
        </p:nvSpPr>
        <p:spPr>
          <a:xfrm>
            <a:off x="781107" y="11346712"/>
            <a:ext cx="14384115" cy="58311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 dirty="0"/>
              <a:t>M5Stack</a:t>
            </a:r>
            <a:r>
              <a:rPr lang="en-US" altLang="ja-JP" sz="3600" dirty="0">
                <a:ea typeface="游ゴシック"/>
              </a:rPr>
              <a:t> </a:t>
            </a:r>
            <a:r>
              <a:rPr lang="ja-JP" altLang="en-US" sz="3600">
                <a:ea typeface="游ゴシック"/>
              </a:rPr>
              <a:t>と </a:t>
            </a:r>
            <a:r>
              <a:rPr lang="en-US" altLang="ja-JP" sz="3600" dirty="0">
                <a:ea typeface="游ゴシック"/>
              </a:rPr>
              <a:t>GAS</a:t>
            </a:r>
            <a:r>
              <a:rPr lang="ja-JP" altLang="en-US" sz="3600">
                <a:ea typeface="游ゴシック"/>
              </a:rPr>
              <a:t> は </a:t>
            </a:r>
            <a:r>
              <a:rPr lang="en-US" altLang="ja-JP" sz="3600" dirty="0">
                <a:ea typeface="游ゴシック"/>
              </a:rPr>
              <a:t>Wi-Fi</a:t>
            </a:r>
            <a:r>
              <a:rPr lang="ja-JP" altLang="en-US" sz="3600">
                <a:ea typeface="游ゴシック"/>
              </a:rPr>
              <a:t> によって常に同期している</a:t>
            </a:r>
            <a:endParaRPr lang="en-US" sz="3600" dirty="0">
              <a:ea typeface="游ゴシック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 dirty="0"/>
              <a:t>M5Stack</a:t>
            </a:r>
            <a:r>
              <a:rPr lang="en-US" altLang="ja-JP" sz="3600" dirty="0">
                <a:ea typeface="游ゴシック"/>
              </a:rPr>
              <a:t> </a:t>
            </a:r>
            <a:r>
              <a:rPr lang="ja-JP" altLang="en-US" sz="3600" dirty="0">
                <a:ea typeface="游ゴシック"/>
              </a:rPr>
              <a:t>は GAS に対して 1 ~ 2 秒間隔でポーリングを行う</a:t>
            </a:r>
            <a:endParaRPr lang="en-US" sz="3600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ゲームの開始・終了のフラグは GAS からポーリングを使って M5Stack に伝わる</a:t>
            </a:r>
            <a:endParaRPr lang="ja-JP" altLang="en-US" sz="3600" dirty="0">
              <a:ea typeface="游ゴシック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譜面情報(ノーツ方向とタイミング)は GAS が保持しており、M5Stack は毎ゲーム新しく取得している</a:t>
            </a:r>
            <a:endParaRPr lang="ja-JP" altLang="en-US" sz="3600" dirty="0">
              <a:ea typeface="游ゴシック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Webブラウザと M5Stack は GAS により画面遷移が同期されている</a:t>
            </a:r>
            <a:endParaRPr lang="ja-JP" altLang="en-US" sz="3600" dirty="0">
              <a:ea typeface="游ゴシック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84A04CB-FBBA-9279-F004-20E9D6F9528B}"/>
              </a:ext>
            </a:extLst>
          </p:cNvPr>
          <p:cNvSpPr txBox="1">
            <a:spLocks/>
          </p:cNvSpPr>
          <p:nvPr/>
        </p:nvSpPr>
        <p:spPr>
          <a:xfrm flipH="1">
            <a:off x="720390" y="10047275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システムの主な設計</a:t>
            </a:r>
            <a:endParaRPr lang="en-US" sz="7200" u="sng">
              <a:ea typeface="游ゴシック Ligh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79CADD-3B52-406C-E907-E8F504AD97EC}"/>
              </a:ext>
            </a:extLst>
          </p:cNvPr>
          <p:cNvSpPr txBox="1">
            <a:spLocks/>
          </p:cNvSpPr>
          <p:nvPr/>
        </p:nvSpPr>
        <p:spPr>
          <a:xfrm flipH="1">
            <a:off x="720798" y="3589621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背景と課題</a:t>
            </a:r>
            <a:endParaRPr lang="en-US" sz="7200" u="sng">
              <a:ea typeface="游ゴシック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2CFCF-5AE7-E697-7BE5-11E16895E1C7}"/>
              </a:ext>
            </a:extLst>
          </p:cNvPr>
          <p:cNvSpPr txBox="1"/>
          <p:nvPr/>
        </p:nvSpPr>
        <p:spPr>
          <a:xfrm>
            <a:off x="736690" y="4889058"/>
            <a:ext cx="14406541" cy="2507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アプリゲームの普及により、</a:t>
            </a:r>
            <a:r>
              <a:rPr lang="ja-JP" altLang="en-US" sz="3600" b="1">
                <a:solidFill>
                  <a:srgbClr val="FF0000"/>
                </a:solidFill>
                <a:ea typeface="游ゴシック"/>
              </a:rPr>
              <a:t>アーケードゲームのプレイ人口が減少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廃業するゲームセンターが増え、身近な存在ではなくなった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游ゴシック"/>
              </a:rPr>
              <a:t>アプリゲームも、</a:t>
            </a:r>
            <a:r>
              <a:rPr lang="ja-JP" altLang="en-US" sz="3600" b="1">
                <a:solidFill>
                  <a:srgbClr val="FF0000"/>
                </a:solidFill>
                <a:ea typeface="游ゴシック"/>
              </a:rPr>
              <a:t>大容量データのダウンロードが必須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8760578-E52F-DEBD-C06B-88CE0E4824E0}"/>
              </a:ext>
            </a:extLst>
          </p:cNvPr>
          <p:cNvSpPr txBox="1">
            <a:spLocks/>
          </p:cNvSpPr>
          <p:nvPr/>
        </p:nvSpPr>
        <p:spPr>
          <a:xfrm flipH="1">
            <a:off x="1216113" y="8012229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>
                <a:solidFill>
                  <a:schemeClr val="accent6">
                    <a:lumMod val="49000"/>
                  </a:schemeClr>
                </a:solidFill>
                <a:ea typeface="游ゴシック Light"/>
              </a:rPr>
              <a:t>▶</a:t>
            </a:r>
            <a:r>
              <a:rPr lang="ja-JP" altLang="en-US" sz="4000" u="sng">
                <a:solidFill>
                  <a:schemeClr val="accent6">
                    <a:lumMod val="49000"/>
                  </a:schemeClr>
                </a:solidFill>
                <a:ea typeface="游ゴシック Light"/>
              </a:rPr>
              <a:t>︎</a:t>
            </a:r>
            <a:r>
              <a:rPr lang="ja-JP" altLang="en-US" sz="4000" u="sng">
                <a:solidFill>
                  <a:schemeClr val="accent6">
                    <a:lumMod val="76000"/>
                  </a:schemeClr>
                </a:solidFill>
                <a:ea typeface="游ゴシック Light"/>
              </a:rPr>
              <a:t> </a:t>
            </a:r>
            <a:r>
              <a:rPr lang="ja-JP" altLang="en-US" sz="4800" u="sng">
                <a:solidFill>
                  <a:schemeClr val="accent6">
                    <a:lumMod val="76000"/>
                  </a:schemeClr>
                </a:solidFill>
                <a:ea typeface="游ゴシック Light"/>
              </a:rPr>
              <a:t>M5Stackでリズムゲームをもっと身近にできる</a:t>
            </a:r>
            <a:endParaRPr lang="en-US" sz="4800" u="sng" dirty="0">
              <a:solidFill>
                <a:schemeClr val="accent6">
                  <a:lumMod val="76000"/>
                </a:schemeClr>
              </a:solidFill>
              <a:ea typeface="游ゴシック Ligh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30D293B-ADDC-5603-17A1-9ACB2DB0C15B}"/>
              </a:ext>
            </a:extLst>
          </p:cNvPr>
          <p:cNvSpPr txBox="1">
            <a:spLocks/>
          </p:cNvSpPr>
          <p:nvPr/>
        </p:nvSpPr>
        <p:spPr>
          <a:xfrm flipH="1">
            <a:off x="16187445" y="3589664"/>
            <a:ext cx="11787711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メンバー</a:t>
            </a:r>
            <a:endParaRPr lang="en-US" sz="7200" u="sng">
              <a:ea typeface="游ゴシック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44A19C-50D7-4F85-B646-07F9227855FF}"/>
              </a:ext>
            </a:extLst>
          </p:cNvPr>
          <p:cNvSpPr txBox="1"/>
          <p:nvPr/>
        </p:nvSpPr>
        <p:spPr>
          <a:xfrm>
            <a:off x="16181098" y="4889186"/>
            <a:ext cx="13397368" cy="4167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sz="3600">
                <a:ea typeface="+mn-lt"/>
                <a:cs typeface="+mn-lt"/>
              </a:rPr>
              <a:t>坂本優希（</a:t>
            </a:r>
            <a:r>
              <a:rPr lang="en-US" altLang="ja-JP" sz="3600" dirty="0">
                <a:ea typeface="+mn-lt"/>
                <a:cs typeface="+mn-lt"/>
              </a:rPr>
              <a:t>2412110409</a:t>
            </a:r>
            <a:r>
              <a:rPr lang="ja-JP" sz="3600">
                <a:ea typeface="+mn-lt"/>
                <a:cs typeface="+mn-lt"/>
              </a:rPr>
              <a:t>）リーダー </a:t>
            </a:r>
            <a:r>
              <a:rPr lang="en-US" altLang="ja-JP" sz="3600" dirty="0">
                <a:ea typeface="+mn-lt"/>
                <a:cs typeface="+mn-lt"/>
              </a:rPr>
              <a:t>/ </a:t>
            </a:r>
            <a:r>
              <a:rPr lang="ja-JP" sz="3600">
                <a:ea typeface="+mn-lt"/>
                <a:cs typeface="+mn-lt"/>
              </a:rPr>
              <a:t>総合デザイナー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+mn-lt"/>
                <a:cs typeface="+mn-lt"/>
              </a:rPr>
              <a:t>山下結実（</a:t>
            </a:r>
            <a:r>
              <a:rPr lang="en-US" altLang="ja-JP" sz="3600" dirty="0">
                <a:ea typeface="+mn-lt"/>
                <a:cs typeface="+mn-lt"/>
              </a:rPr>
              <a:t>2412110324</a:t>
            </a:r>
            <a:r>
              <a:rPr lang="ja-JP" altLang="en-US" sz="3600">
                <a:ea typeface="+mn-lt"/>
                <a:cs typeface="+mn-lt"/>
              </a:rPr>
              <a:t>）サブリーダー</a:t>
            </a:r>
            <a:r>
              <a:rPr lang="en-US" altLang="ja-JP" sz="3600" dirty="0">
                <a:ea typeface="+mn-lt"/>
                <a:cs typeface="+mn-lt"/>
              </a:rPr>
              <a:t> / Unity</a:t>
            </a:r>
            <a:r>
              <a:rPr lang="ja-JP" altLang="en-US" sz="3600">
                <a:ea typeface="+mn-lt"/>
                <a:cs typeface="+mn-lt"/>
              </a:rPr>
              <a:t>での譜面の作成</a:t>
            </a:r>
            <a:endParaRPr lang="ja-JP" sz="3600" dirty="0">
              <a:ea typeface="+mn-lt"/>
              <a:cs typeface="+mn-lt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+mn-lt"/>
                <a:cs typeface="+mn-lt"/>
              </a:rPr>
              <a:t>中川蒼太（2412110047）M5Stackのプログラミング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sz="3600">
                <a:ea typeface="+mn-lt"/>
                <a:cs typeface="+mn-lt"/>
              </a:rPr>
              <a:t>有鹿温翔（</a:t>
            </a:r>
            <a:r>
              <a:rPr lang="en-US" altLang="ja-JP" sz="3600" dirty="0">
                <a:ea typeface="+mn-lt"/>
                <a:cs typeface="+mn-lt"/>
              </a:rPr>
              <a:t>2412110117</a:t>
            </a:r>
            <a:r>
              <a:rPr lang="ja-JP" sz="3600">
                <a:ea typeface="+mn-lt"/>
                <a:cs typeface="+mn-lt"/>
              </a:rPr>
              <a:t>）M5Stackのプログラミング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>
                <a:ea typeface="+mn-lt"/>
                <a:cs typeface="+mn-lt"/>
              </a:rPr>
              <a:t>大野悠　（</a:t>
            </a:r>
            <a:r>
              <a:rPr lang="en-US" altLang="ja-JP" sz="3600" dirty="0">
                <a:ea typeface="+mn-lt"/>
                <a:cs typeface="+mn-lt"/>
              </a:rPr>
              <a:t>2312110365</a:t>
            </a:r>
            <a:r>
              <a:rPr lang="ja-JP" altLang="en-US" sz="3600">
                <a:ea typeface="+mn-lt"/>
                <a:cs typeface="+mn-lt"/>
              </a:rPr>
              <a:t>）サーバーの管理と設定</a:t>
            </a:r>
            <a:endParaRPr lang="ja-JP" sz="3600" dirty="0">
              <a:ea typeface="+mn-lt"/>
              <a:cs typeface="+mn-lt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911DD4E-EFBC-3CB8-4F10-151920A1E3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7" t="-3493" r="2832" b="-3180"/>
          <a:stretch>
            <a:fillRect/>
          </a:stretch>
        </p:blipFill>
        <p:spPr>
          <a:xfrm>
            <a:off x="17431991" y="9712948"/>
            <a:ext cx="12124745" cy="7516702"/>
          </a:xfrm>
          <a:prstGeom prst="rect">
            <a:avLst/>
          </a:prstGeom>
        </p:spPr>
      </p:pic>
      <p:pic>
        <p:nvPicPr>
          <p:cNvPr id="66" name="図 11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43C1594-7DC8-B201-D376-A4DA5A09D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9393" y="18259470"/>
            <a:ext cx="12090644" cy="6585152"/>
          </a:xfrm>
          <a:prstGeom prst="rect">
            <a:avLst/>
          </a:prstGeom>
        </p:spPr>
      </p:pic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DD9EA1D4-56E9-2E09-DBDA-C335E43D6C0E}"/>
              </a:ext>
            </a:extLst>
          </p:cNvPr>
          <p:cNvSpPr txBox="1">
            <a:spLocks/>
          </p:cNvSpPr>
          <p:nvPr/>
        </p:nvSpPr>
        <p:spPr>
          <a:xfrm>
            <a:off x="720389" y="19123272"/>
            <a:ext cx="15047170" cy="569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kumimoji="1"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M5Stack は常に GAS と Wi-Fi で同期している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1~2 秒間隔でポーリングを行なっていて、ゲームの開始・終了フラグを検知している</a:t>
            </a: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ゲーム開始時にGASから譜面情報を取得し、判定を開始する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ゲームプレイ中は内部メモリに判定を保持し、終了と同時に GAS へ送信する</a:t>
            </a: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判定を保持することでより正確な判定ができるようになっている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19F0939C-A3E4-9120-BC26-A4E61687E4C2}"/>
              </a:ext>
            </a:extLst>
          </p:cNvPr>
          <p:cNvSpPr txBox="1">
            <a:spLocks/>
          </p:cNvSpPr>
          <p:nvPr/>
        </p:nvSpPr>
        <p:spPr>
          <a:xfrm flipH="1">
            <a:off x="720817" y="17783142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M5Stackの設計</a:t>
            </a:r>
            <a:endParaRPr lang="en-US" sz="7200" u="sng">
              <a:ea typeface="游ゴシック Light"/>
            </a:endParaRP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1B02FA8A-28DB-FADC-B679-98D16B98366A}"/>
              </a:ext>
            </a:extLst>
          </p:cNvPr>
          <p:cNvSpPr txBox="1">
            <a:spLocks/>
          </p:cNvSpPr>
          <p:nvPr/>
        </p:nvSpPr>
        <p:spPr>
          <a:xfrm flipH="1">
            <a:off x="721155" y="26169220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WebブラウザとGASの設計</a:t>
            </a:r>
            <a:endParaRPr lang="en-US" sz="7200" u="sng">
              <a:ea typeface="游ゴシック Light"/>
            </a:endParaRP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5BCDDA67-94CE-2CB3-DEC3-19014E156717}"/>
              </a:ext>
            </a:extLst>
          </p:cNvPr>
          <p:cNvSpPr txBox="1">
            <a:spLocks/>
          </p:cNvSpPr>
          <p:nvPr/>
        </p:nvSpPr>
        <p:spPr>
          <a:xfrm>
            <a:off x="720727" y="27442083"/>
            <a:ext cx="15047170" cy="569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kumimoji="1"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M5Stack は常に GAS と Wi-Fi で同期している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1~2 秒間隔でポーリングを行なっていて、ゲームの開始・終了フラグを検知している</a:t>
            </a: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ゲーム開始時にGASから譜面情報を取得し、判定を開始する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ゲームプレイ中は内部メモリに判定を保持し、終了と同時に GAS へ送信する</a:t>
            </a:r>
          </a:p>
          <a:p>
            <a:pPr marL="756285" indent="-756285"/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判定を保持することでより正確な判定ができるようになっている</a:t>
            </a:r>
            <a:endParaRPr lang="ja-JP" altLang="en-US" sz="36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07638207-AA9B-989D-A92E-32C4CC8B35E7}"/>
              </a:ext>
            </a:extLst>
          </p:cNvPr>
          <p:cNvSpPr txBox="1">
            <a:spLocks/>
          </p:cNvSpPr>
          <p:nvPr/>
        </p:nvSpPr>
        <p:spPr>
          <a:xfrm flipH="1">
            <a:off x="721493" y="34398340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対象ユーザーと価値</a:t>
            </a:r>
            <a:endParaRPr lang="ja-JP" altLang="en-US" sz="7200" u="sng" dirty="0">
              <a:ea typeface="游ゴシック Light"/>
            </a:endParaRPr>
          </a:p>
        </p:txBody>
      </p: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BA7DB452-B889-E022-46AE-8C16C352E5B7}"/>
              </a:ext>
            </a:extLst>
          </p:cNvPr>
          <p:cNvSpPr txBox="1">
            <a:spLocks/>
          </p:cNvSpPr>
          <p:nvPr/>
        </p:nvSpPr>
        <p:spPr>
          <a:xfrm>
            <a:off x="788310" y="35693548"/>
            <a:ext cx="11862667" cy="5851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kumimoji="1"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6285" indent="-756285"/>
            <a:r>
              <a:rPr lang="ja-JP" altLang="en-US" sz="44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対象ユーザー​</a:t>
            </a:r>
            <a:endParaRPr lang="ja-JP" altLang="en-US" sz="44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　　-  アプリゲームなどの</a:t>
            </a:r>
            <a:r>
              <a:rPr lang="ja-JP" altLang="en-US" sz="3600" b="1">
                <a:solidFill>
                  <a:srgbClr val="FF0000"/>
                </a:solidFill>
                <a:latin typeface="游ゴシック Light"/>
                <a:ea typeface="游ゴシック Light"/>
                <a:cs typeface="+mn-lt"/>
              </a:rPr>
              <a:t>プレイ環境が整備できない人</a:t>
            </a:r>
          </a:p>
          <a:p>
            <a:pPr marL="0" indent="0">
              <a:buNone/>
            </a:pPr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　　-  </a:t>
            </a:r>
            <a:r>
              <a:rPr lang="ja-JP" altLang="en-US" sz="3600" b="1">
                <a:latin typeface="游ゴシック Light"/>
                <a:ea typeface="游ゴシック Light"/>
                <a:cs typeface="+mn-lt"/>
              </a:rPr>
              <a:t>アーケードゲームに触れたことがない人</a:t>
            </a:r>
          </a:p>
          <a:p>
            <a:pPr marL="756285" indent="-756285"/>
            <a:r>
              <a:rPr lang="ja-JP" altLang="en-US" sz="4400">
                <a:ea typeface="游ゴシック"/>
              </a:rPr>
              <a:t>価値</a:t>
            </a:r>
            <a:endParaRPr lang="ja-JP" altLang="en-US" sz="4400" dirty="0"/>
          </a:p>
          <a:p>
            <a:pPr marL="0" indent="0">
              <a:buNone/>
            </a:pPr>
            <a:r>
              <a:rPr lang="ja-JP" altLang="en-US" sz="3600">
                <a:latin typeface="游ゴシック Light"/>
                <a:ea typeface="游ゴシック Light"/>
              </a:rPr>
              <a:t>　　- </a:t>
            </a:r>
            <a:r>
              <a:rPr lang="ja-JP" altLang="en-US" sz="3600" b="1">
                <a:solidFill>
                  <a:srgbClr val="FF0000"/>
                </a:solidFill>
                <a:latin typeface="游ゴシック Light"/>
                <a:ea typeface="游ゴシック Light"/>
              </a:rPr>
              <a:t>インターネット環境が弱くても遊べる</a:t>
            </a:r>
            <a:endParaRPr lang="ja-JP" altLang="en-US" sz="9250" b="1">
              <a:solidFill>
                <a:srgbClr val="FF0000"/>
              </a:solidFill>
              <a:latin typeface="Aptos" panose="02110004020202020204"/>
              <a:ea typeface="游ゴシック"/>
            </a:endParaRPr>
          </a:p>
          <a:p>
            <a:pPr marL="0" indent="0">
              <a:buNone/>
            </a:pPr>
            <a:r>
              <a:rPr lang="ja-JP" sz="3600">
                <a:latin typeface="游ゴシック Light"/>
                <a:ea typeface="游ゴシック Light"/>
              </a:rPr>
              <a:t>　　- </a:t>
            </a:r>
            <a:r>
              <a:rPr lang="ja-JP" altLang="en-US" sz="3600" b="1">
                <a:latin typeface="游ゴシック Light"/>
                <a:ea typeface="游ゴシック Light"/>
              </a:rPr>
              <a:t>自宅で手軽にプレイ</a:t>
            </a:r>
            <a:r>
              <a:rPr lang="ja-JP" altLang="en-US" sz="3600">
                <a:latin typeface="游ゴシック Light"/>
                <a:ea typeface="游ゴシック Light"/>
              </a:rPr>
              <a:t>することができる</a:t>
            </a:r>
            <a:endParaRPr lang="ja-JP" sz="9250">
              <a:ea typeface="游ゴシック"/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31BAE2F-BF49-557B-188B-592867813F51}"/>
              </a:ext>
            </a:extLst>
          </p:cNvPr>
          <p:cNvSpPr txBox="1">
            <a:spLocks/>
          </p:cNvSpPr>
          <p:nvPr/>
        </p:nvSpPr>
        <p:spPr>
          <a:xfrm flipH="1">
            <a:off x="14798337" y="34398382"/>
            <a:ext cx="13581797" cy="129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7200" u="sng">
                <a:ea typeface="游ゴシック Light"/>
              </a:rPr>
              <a:t>残された課題と解決案</a:t>
            </a:r>
            <a:endParaRPr lang="ja-JP" altLang="en-US" sz="7200" u="sng" dirty="0">
              <a:ea typeface="游ゴシック Light"/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CF607070-7756-7F7C-00E3-88514E1D54A0}"/>
              </a:ext>
            </a:extLst>
          </p:cNvPr>
          <p:cNvSpPr txBox="1">
            <a:spLocks/>
          </p:cNvSpPr>
          <p:nvPr/>
        </p:nvSpPr>
        <p:spPr>
          <a:xfrm>
            <a:off x="14797910" y="35828105"/>
            <a:ext cx="14172554" cy="58964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756872" indent="-756872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Char char="•"/>
              <a:defRPr kumimoji="1" sz="92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70615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35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102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184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6285" indent="-756285"/>
            <a:r>
              <a:rPr lang="ja-JP" altLang="en-US" sz="44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Unityを使っているため、</a:t>
            </a:r>
            <a:r>
              <a:rPr lang="ja-JP" altLang="en-US" sz="4400" b="1">
                <a:solidFill>
                  <a:srgbClr val="FF0000"/>
                </a:solidFill>
                <a:latin typeface="游ゴシック Light"/>
                <a:ea typeface="游ゴシック Light"/>
                <a:cs typeface="+mn-lt"/>
              </a:rPr>
              <a:t>新たな譜面の追加が難しい</a:t>
            </a:r>
            <a:endParaRPr lang="ja-JP" altLang="en-US" sz="4400" b="1" dirty="0">
              <a:solidFill>
                <a:srgbClr val="FF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r>
              <a:rPr lang="ja-JP" altLang="en-US" sz="360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　　-  Unity以外の作成手段を見つける必要がある</a:t>
            </a:r>
            <a:endParaRPr lang="ja-JP" altLang="en-US" sz="3600">
              <a:latin typeface="游ゴシック Light"/>
              <a:ea typeface="游ゴシック Light"/>
            </a:endParaRPr>
          </a:p>
          <a:p>
            <a:pPr marL="756285" indent="-756285"/>
            <a:r>
              <a:rPr lang="ja-JP" altLang="en-US" sz="4400">
                <a:ea typeface="游ゴシック"/>
              </a:rPr>
              <a:t>Webブラウザとの</a:t>
            </a:r>
            <a:r>
              <a:rPr lang="ja-JP" altLang="en-US" sz="4400" b="1">
                <a:solidFill>
                  <a:srgbClr val="FF0000"/>
                </a:solidFill>
                <a:ea typeface="游ゴシック"/>
              </a:rPr>
              <a:t>同期に時間がかかる</a:t>
            </a:r>
          </a:p>
          <a:p>
            <a:pPr marL="0" indent="0">
              <a:buNone/>
            </a:pPr>
            <a:r>
              <a:rPr lang="ja-JP" altLang="en-US" sz="3600">
                <a:latin typeface="游ゴシック Light"/>
                <a:ea typeface="游ゴシック Light"/>
              </a:rPr>
              <a:t>　　- 同期に必要な情報を減らし、時間短縮を図る</a:t>
            </a:r>
          </a:p>
          <a:p>
            <a:pPr marL="571500" indent="-571500"/>
            <a:r>
              <a:rPr lang="ja-JP" altLang="en-US" sz="4400" b="1">
                <a:latin typeface="Aptos"/>
                <a:ea typeface="游ゴシック Light"/>
              </a:rPr>
              <a:t>判定の種類が２つしかない</a:t>
            </a:r>
          </a:p>
          <a:p>
            <a:pPr marL="0" indent="0">
              <a:buNone/>
            </a:pPr>
            <a:r>
              <a:rPr lang="ja-JP" sz="3600">
                <a:ea typeface="+mn-lt"/>
                <a:cs typeface="+mn-lt"/>
              </a:rPr>
              <a:t>　　- 角度の判定を細かく指定することで、種類を</a:t>
            </a:r>
            <a:r>
              <a:rPr lang="ja-JP" altLang="en-US" sz="3600">
                <a:ea typeface="+mn-lt"/>
                <a:cs typeface="+mn-lt"/>
              </a:rPr>
              <a:t>増やす</a:t>
            </a:r>
            <a:endParaRPr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537051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477</Words>
  <Application>Microsoft Macintosh PowerPoint</Application>
  <PresentationFormat>ユーザー設定</PresentationFormat>
  <Paragraphs>45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Aptos</vt:lpstr>
      <vt:lpstr>Aptos Display</vt:lpstr>
      <vt:lpstr>Arial</vt:lpstr>
      <vt:lpstr>Office テーマ</vt:lpstr>
      <vt:lpstr>M5Tone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坂本優希</dc:creator>
  <cp:lastModifiedBy>坂本優希</cp:lastModifiedBy>
  <cp:revision>649</cp:revision>
  <cp:lastPrinted>2026-01-19T08:33:28Z</cp:lastPrinted>
  <dcterms:created xsi:type="dcterms:W3CDTF">2025-12-08T08:07:33Z</dcterms:created>
  <dcterms:modified xsi:type="dcterms:W3CDTF">2026-01-25T09:27:29Z</dcterms:modified>
</cp:coreProperties>
</file>